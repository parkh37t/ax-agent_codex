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D24:p1,6 / 합성 재구성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D24:p3,17-18 / D03:p8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D26:p13,15 / 합성 재구성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D24:p19 / D12:p65 / 합성 재구성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D24:p24 / D26:p17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D26:p13 / D11:시각 사례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D03:p10 / D25:p44-46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D14:p7,31-36 / 합성 재구성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D24:p13-14 / D29:단계별 추진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D11:이미지형 UI 사례 / D26:핵심 UX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D02:레퍼런스 / D24:p17 / D03:p9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합성 템플릿입니다. 실제 고객정보·성과·가격을 포함하지 않습니다.</a:t>
            </a:r>
          </a:p>
          <a:p>
            <a:r>
              <a:t>참고: D24:p48-50 / 합성 재구성</a:t>
            </a:r>
          </a:p>
          <a:p>
            <a:r>
              <a:t>모든 텍스트·도형은 편집 가능합니다. 폰트는 원본과 동일하지 않은 명시적 대체 글꼴 Noto Sans CJK KR입니다.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WYLIE / PROPOSAL PATTERNS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WYLIE / PROPOSAL PATTERNS</a:t>
            </a:r>
          </a:p>
        </p:txBody>
      </p:sp>
      <p:sp>
        <p:nvSpPr>
          <p:cNvPr id="3" name="title:고객의 문제를 실행 가능한 제안으로 연결합니다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고객의 문제를 실행 가능한 제안으로 연결합니다</a:t>
            </a:r>
          </a:p>
        </p:txBody>
      </p:sp>
      <p:sp>
        <p:nvSpPr>
          <p:cNvPr id="4" name="subtitle:개인 제안서 제작 스킬 · 편집 가능한 레이아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개인 제안서 제작 스킬 · 편집 가능한 레이아웃 12종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D24:p1,6 / 합성 재구성</a:t>
            </a:r>
          </a:p>
        </p:txBody>
      </p:sp>
      <p:sp>
        <p:nvSpPr>
          <p:cNvPr id="7" name="footer:01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01</a:t>
            </a:r>
          </a:p>
        </p:txBody>
      </p:sp>
      <p:sp>
        <p:nvSpPr>
          <p:cNvPr id="8" name="cover-background"/>
          <p:cNvSpPr/>
          <p:nvPr/>
        </p:nvSpPr>
        <p:spPr>
          <a:xfrm>
            <a:off x="0" y="0"/>
            <a:ext cx="12191969" cy="6327648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:WYLIE  ·  PROPOSAL STUDIO"/>
          <p:cNvSpPr txBox="1"/>
          <p:nvPr/>
        </p:nvSpPr>
        <p:spPr>
          <a:xfrm>
            <a:off x="685800" y="594360"/>
            <a:ext cx="8229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WYLIE  ·  PROPOSAL STUDIO</a:t>
            </a:r>
          </a:p>
        </p:txBody>
      </p:sp>
      <p:sp>
        <p:nvSpPr>
          <p:cNvPr id="10" name="title:고객의 문제를&#10;실행 가능한 제안으로"/>
          <p:cNvSpPr txBox="1"/>
          <p:nvPr/>
        </p:nvSpPr>
        <p:spPr>
          <a:xfrm>
            <a:off x="685800" y="1554480"/>
            <a:ext cx="98755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고객의 문제를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실행 가능한 제안으로</a:t>
            </a:r>
          </a:p>
        </p:txBody>
      </p:sp>
      <p:sp>
        <p:nvSpPr>
          <p:cNvPr id="11" name="body:진단 → 전략 → 경험 → 실행 → 검증&#10;한 "/>
          <p:cNvSpPr txBox="1"/>
          <p:nvPr/>
        </p:nvSpPr>
        <p:spPr>
          <a:xfrm>
            <a:off x="713232" y="3657600"/>
            <a:ext cx="87782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진단 → 전략 → 경험 → 실행 → 검증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한 줄 메시지를 근거와 산출물로 연결합니다.</a:t>
            </a:r>
          </a:p>
        </p:txBody>
      </p:sp>
      <p:sp>
        <p:nvSpPr>
          <p:cNvPr id="12" name="body:합성 예시  |  폰트·색·내용을 고객 규격에"/>
          <p:cNvSpPr txBox="1"/>
          <p:nvPr/>
        </p:nvSpPr>
        <p:spPr>
          <a:xfrm>
            <a:off x="713232" y="5230368"/>
            <a:ext cx="9144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예시  |  폰트·색·내용을 고객 규격에 맞춰 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1 / 핵심 요약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01 / 핵심 요약</a:t>
            </a:r>
          </a:p>
        </p:txBody>
      </p:sp>
      <p:sp>
        <p:nvSpPr>
          <p:cNvPr id="3" name="title:세 가지 실행으로 고객의 반복 확인을 줄입니다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세 가지 실행으로 고객의 반복 확인을 줄입니다</a:t>
            </a:r>
          </a:p>
        </p:txBody>
      </p:sp>
      <p:sp>
        <p:nvSpPr>
          <p:cNvPr id="4" name="subtitle:문제와 해법, 검증할 결과를 같은 순서로 연결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문제와 해법, 검증할 결과를 같은 순서로 연결합니다.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D24:p3,17-18 / D03:p8</a:t>
            </a:r>
          </a:p>
        </p:txBody>
      </p:sp>
      <p:sp>
        <p:nvSpPr>
          <p:cNvPr id="7" name="footer:02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02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el:01"/>
          <p:cNvSpPr txBox="1"/>
          <p:nvPr/>
        </p:nvSpPr>
        <p:spPr>
          <a:xfrm>
            <a:off x="70408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01</a:t>
            </a:r>
          </a:p>
        </p:txBody>
      </p:sp>
      <p:sp>
        <p:nvSpPr>
          <p:cNvPr id="10" name="body:기준을 고정"/>
          <p:cNvSpPr txBox="1"/>
          <p:nvPr/>
        </p:nvSpPr>
        <p:spPr>
          <a:xfrm>
            <a:off x="70408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기준을 고정</a:t>
            </a:r>
          </a:p>
        </p:txBody>
      </p:sp>
      <p:sp>
        <p:nvSpPr>
          <p:cNvPr id="11" name="body:가격·권한·상태 기준을&#10;거래 이력과 연결합니다"/>
          <p:cNvSpPr txBox="1"/>
          <p:nvPr/>
        </p:nvSpPr>
        <p:spPr>
          <a:xfrm>
            <a:off x="70408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가격·권한·상태 기준을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거래 이력과 연결합니다.</a:t>
            </a:r>
          </a:p>
        </p:txBody>
      </p:sp>
      <p:sp>
        <p:nvSpPr>
          <p:cNvPr id="12" name="visual"/>
          <p:cNvSpPr/>
          <p:nvPr/>
        </p:nvSpPr>
        <p:spPr>
          <a:xfrm>
            <a:off x="429768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:02"/>
          <p:cNvSpPr txBox="1"/>
          <p:nvPr/>
        </p:nvSpPr>
        <p:spPr>
          <a:xfrm>
            <a:off x="449884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02</a:t>
            </a:r>
          </a:p>
        </p:txBody>
      </p:sp>
      <p:sp>
        <p:nvSpPr>
          <p:cNvPr id="14" name="body:흐름을 연결"/>
          <p:cNvSpPr txBox="1"/>
          <p:nvPr/>
        </p:nvSpPr>
        <p:spPr>
          <a:xfrm>
            <a:off x="449884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흐름을 연결</a:t>
            </a:r>
          </a:p>
        </p:txBody>
      </p:sp>
      <p:sp>
        <p:nvSpPr>
          <p:cNvPr id="15" name="body:입력부터 승인까지&#10;예외 경로를 포함합니다."/>
          <p:cNvSpPr txBox="1"/>
          <p:nvPr/>
        </p:nvSpPr>
        <p:spPr>
          <a:xfrm>
            <a:off x="449884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입력부터 승인까지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예외 경로를 포함합니다.</a:t>
            </a:r>
          </a:p>
        </p:txBody>
      </p:sp>
      <p:sp>
        <p:nvSpPr>
          <p:cNvPr id="16" name="visual"/>
          <p:cNvSpPr/>
          <p:nvPr/>
        </p:nvSpPr>
        <p:spPr>
          <a:xfrm>
            <a:off x="809244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el:03"/>
          <p:cNvSpPr txBox="1"/>
          <p:nvPr/>
        </p:nvSpPr>
        <p:spPr>
          <a:xfrm>
            <a:off x="829360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03</a:t>
            </a:r>
          </a:p>
        </p:txBody>
      </p:sp>
      <p:sp>
        <p:nvSpPr>
          <p:cNvPr id="18" name="body:성과를 확인"/>
          <p:cNvSpPr txBox="1"/>
          <p:nvPr/>
        </p:nvSpPr>
        <p:spPr>
          <a:xfrm>
            <a:off x="829360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성과를 확인</a:t>
            </a:r>
          </a:p>
        </p:txBody>
      </p:sp>
      <p:sp>
        <p:nvSpPr>
          <p:cNvPr id="19" name="body:처리시간·재작업률을&#10;동일 기준으로 비교합니다."/>
          <p:cNvSpPr txBox="1"/>
          <p:nvPr/>
        </p:nvSpPr>
        <p:spPr>
          <a:xfrm>
            <a:off x="829360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처리시간·재작업률을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동일 기준으로 비교합니다.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2 / 진단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02 / 진단</a:t>
            </a:r>
          </a:p>
        </p:txBody>
      </p:sp>
      <p:sp>
        <p:nvSpPr>
          <p:cNvPr id="3" name="title:현재의 불편을 원인과 검증 질문으로 분해합니다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현재의 불편을 원인과 검증 질문으로 분해합니다</a:t>
            </a:r>
          </a:p>
        </p:txBody>
      </p:sp>
      <p:sp>
        <p:nvSpPr>
          <p:cNvPr id="4" name="subtitle:관찰 사실과 가설을 구분해 해결 방향을 정합니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관찰 사실과 가설을 구분해 해결 방향을 정합니다.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D26:p13,15 / 합성 재구성</a:t>
            </a:r>
          </a:p>
        </p:txBody>
      </p:sp>
      <p:sp>
        <p:nvSpPr>
          <p:cNvPr id="7" name="footer:03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03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el:01"/>
          <p:cNvSpPr txBox="1"/>
          <p:nvPr/>
        </p:nvSpPr>
        <p:spPr>
          <a:xfrm>
            <a:off x="70408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01</a:t>
            </a:r>
          </a:p>
        </p:txBody>
      </p:sp>
      <p:sp>
        <p:nvSpPr>
          <p:cNvPr id="10" name="body:관찰한 현상"/>
          <p:cNvSpPr txBox="1"/>
          <p:nvPr/>
        </p:nvSpPr>
        <p:spPr>
          <a:xfrm>
            <a:off x="70408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관찰한 현상</a:t>
            </a:r>
          </a:p>
        </p:txBody>
      </p:sp>
      <p:sp>
        <p:nvSpPr>
          <p:cNvPr id="11" name="body:같은 항목을 반복 확인&#10;[자료로 확인할 내용]"/>
          <p:cNvSpPr txBox="1"/>
          <p:nvPr/>
        </p:nvSpPr>
        <p:spPr>
          <a:xfrm>
            <a:off x="70408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같은 항목을 반복 확인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[자료로 확인할 내용]</a:t>
            </a:r>
          </a:p>
        </p:txBody>
      </p:sp>
      <p:sp>
        <p:nvSpPr>
          <p:cNvPr id="12" name="visual"/>
          <p:cNvSpPr/>
          <p:nvPr/>
        </p:nvSpPr>
        <p:spPr>
          <a:xfrm>
            <a:off x="429768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:02"/>
          <p:cNvSpPr txBox="1"/>
          <p:nvPr/>
        </p:nvSpPr>
        <p:spPr>
          <a:xfrm>
            <a:off x="449884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02</a:t>
            </a:r>
          </a:p>
        </p:txBody>
      </p:sp>
      <p:sp>
        <p:nvSpPr>
          <p:cNvPr id="14" name="body:원인 가설"/>
          <p:cNvSpPr txBox="1"/>
          <p:nvPr/>
        </p:nvSpPr>
        <p:spPr>
          <a:xfrm>
            <a:off x="449884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원인 가설</a:t>
            </a:r>
          </a:p>
        </p:txBody>
      </p:sp>
      <p:sp>
        <p:nvSpPr>
          <p:cNvPr id="15" name="body:기준과 이력이 분리됨&#10;[인터뷰로 검증할 내용]"/>
          <p:cNvSpPr txBox="1"/>
          <p:nvPr/>
        </p:nvSpPr>
        <p:spPr>
          <a:xfrm>
            <a:off x="449884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기준과 이력이 분리됨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[인터뷰로 검증할 내용]</a:t>
            </a:r>
          </a:p>
        </p:txBody>
      </p:sp>
      <p:sp>
        <p:nvSpPr>
          <p:cNvPr id="16" name="visual"/>
          <p:cNvSpPr/>
          <p:nvPr/>
        </p:nvSpPr>
        <p:spPr>
          <a:xfrm>
            <a:off x="809244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el:03"/>
          <p:cNvSpPr txBox="1"/>
          <p:nvPr/>
        </p:nvSpPr>
        <p:spPr>
          <a:xfrm>
            <a:off x="829360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03</a:t>
            </a:r>
          </a:p>
        </p:txBody>
      </p:sp>
      <p:sp>
        <p:nvSpPr>
          <p:cNvPr id="18" name="body:검증할 변화"/>
          <p:cNvSpPr txBox="1"/>
          <p:nvPr/>
        </p:nvSpPr>
        <p:spPr>
          <a:xfrm>
            <a:off x="829360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검증할 변화</a:t>
            </a:r>
          </a:p>
        </p:txBody>
      </p:sp>
      <p:sp>
        <p:nvSpPr>
          <p:cNvPr id="19" name="body:한 화면에서 근거 확인&#10;[시나리오로 시험할 내"/>
          <p:cNvSpPr txBox="1"/>
          <p:nvPr/>
        </p:nvSpPr>
        <p:spPr>
          <a:xfrm>
            <a:off x="829360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한 화면에서 근거 확인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[시나리오로 시험할 내용]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3 / 전략 체계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03 / 전략 체계</a:t>
            </a:r>
          </a:p>
        </p:txBody>
      </p:sp>
      <p:sp>
        <p:nvSpPr>
          <p:cNvPr id="3" name="title:하나의 목표를 세 전략과 공통 기반으로 구체화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하나의 목표를 세 전략과 공통 기반으로 구체화합니다</a:t>
            </a:r>
          </a:p>
        </p:txBody>
      </p:sp>
      <p:sp>
        <p:nvSpPr>
          <p:cNvPr id="4" name="subtitle:목표 → 전략 → 과제 → 산출물의 수직 추적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목표 → 전략 → 과제 → 산출물의 수직 추적을 유지합니다.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D24:p19 / D12:p65 / 합성 재구성</a:t>
            </a:r>
          </a:p>
        </p:txBody>
      </p:sp>
      <p:sp>
        <p:nvSpPr>
          <p:cNvPr id="7" name="footer:04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04</a:t>
            </a:r>
          </a:p>
        </p:txBody>
      </p:sp>
      <p:sp>
        <p:nvSpPr>
          <p:cNvPr id="8" name="visual"/>
          <p:cNvSpPr/>
          <p:nvPr/>
        </p:nvSpPr>
        <p:spPr>
          <a:xfrm>
            <a:off x="1005840" y="1938528"/>
            <a:ext cx="10195560" cy="594360"/>
          </a:xfrm>
          <a:prstGeom prst="chevron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:목표: 근거가 보이는 빠른 업무 처리"/>
          <p:cNvSpPr txBox="1"/>
          <p:nvPr/>
        </p:nvSpPr>
        <p:spPr>
          <a:xfrm>
            <a:off x="1325880" y="2048256"/>
            <a:ext cx="9555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목표: 근거가 보이는 빠른 업무 처리</a:t>
            </a:r>
          </a:p>
        </p:txBody>
      </p:sp>
      <p:sp>
        <p:nvSpPr>
          <p:cNvPr id="10" name="visual"/>
          <p:cNvSpPr/>
          <p:nvPr/>
        </p:nvSpPr>
        <p:spPr>
          <a:xfrm>
            <a:off x="1005840" y="2761488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:정확성"/>
          <p:cNvSpPr txBox="1"/>
          <p:nvPr/>
        </p:nvSpPr>
        <p:spPr>
          <a:xfrm>
            <a:off x="1207008" y="2962656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정확성</a:t>
            </a:r>
          </a:p>
        </p:txBody>
      </p:sp>
      <p:sp>
        <p:nvSpPr>
          <p:cNvPr id="12" name="body:정책·데이터 기준&#10;검증 규칙 목록"/>
          <p:cNvSpPr txBox="1"/>
          <p:nvPr/>
        </p:nvSpPr>
        <p:spPr>
          <a:xfrm>
            <a:off x="1207008" y="36576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정책·데이터 기준</a:t>
            </a:r>
          </a:p>
          <a:p>
            <a:pPr algn="ctr"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검증 규칙 목록</a:t>
            </a:r>
          </a:p>
        </p:txBody>
      </p:sp>
      <p:sp>
        <p:nvSpPr>
          <p:cNvPr id="13" name="visual"/>
          <p:cNvSpPr/>
          <p:nvPr/>
        </p:nvSpPr>
        <p:spPr>
          <a:xfrm>
            <a:off x="4526280" y="2761488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:연결성"/>
          <p:cNvSpPr txBox="1"/>
          <p:nvPr/>
        </p:nvSpPr>
        <p:spPr>
          <a:xfrm>
            <a:off x="4727448" y="2962656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연결성</a:t>
            </a:r>
          </a:p>
        </p:txBody>
      </p:sp>
      <p:sp>
        <p:nvSpPr>
          <p:cNvPr id="15" name="body:역할별 업무 여정&#10;핵심 화면 시안"/>
          <p:cNvSpPr txBox="1"/>
          <p:nvPr/>
        </p:nvSpPr>
        <p:spPr>
          <a:xfrm>
            <a:off x="4727448" y="36576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역할별 업무 여정</a:t>
            </a:r>
          </a:p>
          <a:p>
            <a:pPr algn="ctr"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핵심 화면 시안</a:t>
            </a:r>
          </a:p>
        </p:txBody>
      </p:sp>
      <p:sp>
        <p:nvSpPr>
          <p:cNvPr id="16" name="visual"/>
          <p:cNvSpPr/>
          <p:nvPr/>
        </p:nvSpPr>
        <p:spPr>
          <a:xfrm>
            <a:off x="8046720" y="2761488"/>
            <a:ext cx="3154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:실행력"/>
          <p:cNvSpPr txBox="1"/>
          <p:nvPr/>
        </p:nvSpPr>
        <p:spPr>
          <a:xfrm>
            <a:off x="8247888" y="2962656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실행력</a:t>
            </a:r>
          </a:p>
        </p:txBody>
      </p:sp>
      <p:sp>
        <p:nvSpPr>
          <p:cNvPr id="18" name="body:단계별 전환 계획&#10;검수·이관 증거"/>
          <p:cNvSpPr txBox="1"/>
          <p:nvPr/>
        </p:nvSpPr>
        <p:spPr>
          <a:xfrm>
            <a:off x="8247888" y="3657600"/>
            <a:ext cx="27432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단계별 전환 계획</a:t>
            </a:r>
          </a:p>
          <a:p>
            <a:pPr algn="ctr"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검수·이관 증거</a:t>
            </a:r>
          </a:p>
        </p:txBody>
      </p:sp>
      <p:sp>
        <p:nvSpPr>
          <p:cNvPr id="19" name="visual"/>
          <p:cNvSpPr/>
          <p:nvPr/>
        </p:nvSpPr>
        <p:spPr>
          <a:xfrm>
            <a:off x="1005840" y="5047488"/>
            <a:ext cx="10195560" cy="640080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:공통 기반  ·  근거 관리 / 디자인시스템 "/>
          <p:cNvSpPr txBox="1"/>
          <p:nvPr/>
        </p:nvSpPr>
        <p:spPr>
          <a:xfrm>
            <a:off x="1188720" y="5175504"/>
            <a:ext cx="9829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공통 기반  ·  근거 관리 / 디자인시스템 / 책임과 검수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4 / 전환 논리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04 / 전환 논리</a:t>
            </a:r>
          </a:p>
        </p:txBody>
      </p:sp>
      <p:sp>
        <p:nvSpPr>
          <p:cNvPr id="3" name="title:동일한 비교축으로 변화의 의미를 설명합니다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동일한 비교축으로 변화의 의미를 설명합니다</a:t>
            </a:r>
          </a:p>
        </p:txBody>
      </p:sp>
      <p:sp>
        <p:nvSpPr>
          <p:cNvPr id="4" name="subtitle:우수해 보이는 말 대신 실제 바뀌는 처리 방식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우수해 보이는 말 대신 실제 바뀌는 처리 방식을 씁니다.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D24:p24 / D26:p17</a:t>
            </a:r>
          </a:p>
        </p:txBody>
      </p:sp>
      <p:sp>
        <p:nvSpPr>
          <p:cNvPr id="7" name="footer:05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05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1965960"/>
            <a:ext cx="5367528" cy="5943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:현재"/>
          <p:cNvSpPr txBox="1"/>
          <p:nvPr/>
        </p:nvSpPr>
        <p:spPr>
          <a:xfrm>
            <a:off x="685800" y="2084831"/>
            <a:ext cx="500176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현재</a:t>
            </a:r>
          </a:p>
        </p:txBody>
      </p:sp>
      <p:sp>
        <p:nvSpPr>
          <p:cNvPr id="10" name="visual"/>
          <p:cNvSpPr/>
          <p:nvPr/>
        </p:nvSpPr>
        <p:spPr>
          <a:xfrm>
            <a:off x="6309360" y="1965960"/>
            <a:ext cx="5367528" cy="594360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:제안"/>
          <p:cNvSpPr txBox="1"/>
          <p:nvPr/>
        </p:nvSpPr>
        <p:spPr>
          <a:xfrm>
            <a:off x="6492240" y="2084831"/>
            <a:ext cx="500176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제안</a:t>
            </a:r>
          </a:p>
        </p:txBody>
      </p:sp>
      <p:sp>
        <p:nvSpPr>
          <p:cNvPr id="12" name="visual"/>
          <p:cNvSpPr/>
          <p:nvPr/>
        </p:nvSpPr>
        <p:spPr>
          <a:xfrm>
            <a:off x="502920" y="2788920"/>
            <a:ext cx="5367528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dy:입력: 여러 화면을 왕복"/>
          <p:cNvSpPr txBox="1"/>
          <p:nvPr/>
        </p:nvSpPr>
        <p:spPr>
          <a:xfrm>
            <a:off x="713232" y="2971800"/>
            <a:ext cx="494690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입력: 여러 화면을 왕복</a:t>
            </a:r>
          </a:p>
        </p:txBody>
      </p:sp>
      <p:sp>
        <p:nvSpPr>
          <p:cNvPr id="14" name="visual"/>
          <p:cNvSpPr/>
          <p:nvPr/>
        </p:nvSpPr>
        <p:spPr>
          <a:xfrm>
            <a:off x="5943600" y="2999232"/>
            <a:ext cx="256032" cy="22860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ual"/>
          <p:cNvSpPr/>
          <p:nvPr/>
        </p:nvSpPr>
        <p:spPr>
          <a:xfrm>
            <a:off x="6309360" y="2788920"/>
            <a:ext cx="5367528" cy="758952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:입력: 역할별 시작점 통합"/>
          <p:cNvSpPr txBox="1"/>
          <p:nvPr/>
        </p:nvSpPr>
        <p:spPr>
          <a:xfrm>
            <a:off x="6519672" y="2971800"/>
            <a:ext cx="494690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입력: 역할별 시작점 통합</a:t>
            </a:r>
          </a:p>
        </p:txBody>
      </p:sp>
      <p:sp>
        <p:nvSpPr>
          <p:cNvPr id="17" name="visual"/>
          <p:cNvSpPr/>
          <p:nvPr/>
        </p:nvSpPr>
        <p:spPr>
          <a:xfrm>
            <a:off x="502920" y="3739896"/>
            <a:ext cx="5367528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판단: 담당자에게 기준 확인"/>
          <p:cNvSpPr txBox="1"/>
          <p:nvPr/>
        </p:nvSpPr>
        <p:spPr>
          <a:xfrm>
            <a:off x="713232" y="3922776"/>
            <a:ext cx="494690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판단: 담당자에게 기준 확인</a:t>
            </a:r>
          </a:p>
        </p:txBody>
      </p:sp>
      <p:sp>
        <p:nvSpPr>
          <p:cNvPr id="19" name="visual"/>
          <p:cNvSpPr/>
          <p:nvPr/>
        </p:nvSpPr>
        <p:spPr>
          <a:xfrm>
            <a:off x="5943600" y="3950208"/>
            <a:ext cx="256032" cy="22860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sual"/>
          <p:cNvSpPr/>
          <p:nvPr/>
        </p:nvSpPr>
        <p:spPr>
          <a:xfrm>
            <a:off x="6309360" y="3739896"/>
            <a:ext cx="5367528" cy="758952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dy:판단: 기준·이력을 화면에 표시"/>
          <p:cNvSpPr txBox="1"/>
          <p:nvPr/>
        </p:nvSpPr>
        <p:spPr>
          <a:xfrm>
            <a:off x="6519672" y="3922776"/>
            <a:ext cx="494690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판단: 기준·이력을 화면에 표시</a:t>
            </a:r>
          </a:p>
        </p:txBody>
      </p:sp>
      <p:sp>
        <p:nvSpPr>
          <p:cNvPr id="22" name="visual"/>
          <p:cNvSpPr/>
          <p:nvPr/>
        </p:nvSpPr>
        <p:spPr>
          <a:xfrm>
            <a:off x="502920" y="4690872"/>
            <a:ext cx="5367528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:확인: 결과만 사후 점검"/>
          <p:cNvSpPr txBox="1"/>
          <p:nvPr/>
        </p:nvSpPr>
        <p:spPr>
          <a:xfrm>
            <a:off x="713232" y="4873752"/>
            <a:ext cx="494690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확인: 결과만 사후 점검</a:t>
            </a:r>
          </a:p>
        </p:txBody>
      </p:sp>
      <p:sp>
        <p:nvSpPr>
          <p:cNvPr id="24" name="visual"/>
          <p:cNvSpPr/>
          <p:nvPr/>
        </p:nvSpPr>
        <p:spPr>
          <a:xfrm>
            <a:off x="5943600" y="4901184"/>
            <a:ext cx="256032" cy="22860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sual"/>
          <p:cNvSpPr/>
          <p:nvPr/>
        </p:nvSpPr>
        <p:spPr>
          <a:xfrm>
            <a:off x="6309360" y="4690872"/>
            <a:ext cx="5367528" cy="758952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확인: 예외와 증거를 함께 기록"/>
          <p:cNvSpPr txBox="1"/>
          <p:nvPr/>
        </p:nvSpPr>
        <p:spPr>
          <a:xfrm>
            <a:off x="6519672" y="4873752"/>
            <a:ext cx="494690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확인: 예외와 증거를 함께 기록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5 / 경험 설계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05 / 경험 설계</a:t>
            </a:r>
          </a:p>
        </p:txBody>
      </p:sp>
      <p:sp>
        <p:nvSpPr>
          <p:cNvPr id="3" name="title:고객 여정의 마찰을 화면과 측정 지점으로 연결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고객 여정의 마찰을 화면과 측정 지점으로 연결합니다</a:t>
            </a:r>
          </a:p>
        </p:txBody>
      </p:sp>
      <p:sp>
        <p:nvSpPr>
          <p:cNvPr id="4" name="subtitle:단계 수보다 단계별 역할·불편·개입·증거가 중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단계 수보다 단계별 역할·불편·개입·증거가 중요합니다.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D26:p13 / D11:시각 사례</a:t>
            </a:r>
          </a:p>
        </p:txBody>
      </p:sp>
      <p:sp>
        <p:nvSpPr>
          <p:cNvPr id="7" name="footer:06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06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2377440"/>
            <a:ext cx="2633472" cy="594360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:탐색"/>
          <p:cNvSpPr txBox="1"/>
          <p:nvPr/>
        </p:nvSpPr>
        <p:spPr>
          <a:xfrm>
            <a:off x="594360" y="2496312"/>
            <a:ext cx="245059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탐색</a:t>
            </a:r>
          </a:p>
        </p:txBody>
      </p:sp>
      <p:sp>
        <p:nvSpPr>
          <p:cNvPr id="10" name="body:필요를 발견&#10;검색 성공률"/>
          <p:cNvSpPr txBox="1"/>
          <p:nvPr/>
        </p:nvSpPr>
        <p:spPr>
          <a:xfrm>
            <a:off x="685800" y="3337560"/>
            <a:ext cx="2267712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필요를 발견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검색 성공률</a:t>
            </a:r>
          </a:p>
        </p:txBody>
      </p:sp>
      <p:sp>
        <p:nvSpPr>
          <p:cNvPr id="11" name="visual"/>
          <p:cNvSpPr/>
          <p:nvPr/>
        </p:nvSpPr>
        <p:spPr>
          <a:xfrm>
            <a:off x="3191256" y="2578608"/>
            <a:ext cx="146304" cy="18288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"/>
          <p:cNvSpPr/>
          <p:nvPr/>
        </p:nvSpPr>
        <p:spPr>
          <a:xfrm>
            <a:off x="3355848" y="2377440"/>
            <a:ext cx="2633472" cy="594360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dy:확인"/>
          <p:cNvSpPr txBox="1"/>
          <p:nvPr/>
        </p:nvSpPr>
        <p:spPr>
          <a:xfrm>
            <a:off x="3447288" y="2496312"/>
            <a:ext cx="245059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확인</a:t>
            </a:r>
          </a:p>
        </p:txBody>
      </p:sp>
      <p:sp>
        <p:nvSpPr>
          <p:cNvPr id="14" name="body:근거를 비교&#10;정보 확인시간"/>
          <p:cNvSpPr txBox="1"/>
          <p:nvPr/>
        </p:nvSpPr>
        <p:spPr>
          <a:xfrm>
            <a:off x="3538728" y="3337560"/>
            <a:ext cx="2267712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근거를 비교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정보 확인시간</a:t>
            </a:r>
          </a:p>
        </p:txBody>
      </p:sp>
      <p:sp>
        <p:nvSpPr>
          <p:cNvPr id="15" name="visual"/>
          <p:cNvSpPr/>
          <p:nvPr/>
        </p:nvSpPr>
        <p:spPr>
          <a:xfrm>
            <a:off x="6044183" y="2578608"/>
            <a:ext cx="146304" cy="18288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sual"/>
          <p:cNvSpPr/>
          <p:nvPr/>
        </p:nvSpPr>
        <p:spPr>
          <a:xfrm>
            <a:off x="6208776" y="2377440"/>
            <a:ext cx="2633472" cy="594360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:실행"/>
          <p:cNvSpPr txBox="1"/>
          <p:nvPr/>
        </p:nvSpPr>
        <p:spPr>
          <a:xfrm>
            <a:off x="6300216" y="2496312"/>
            <a:ext cx="245059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실행</a:t>
            </a:r>
          </a:p>
        </p:txBody>
      </p:sp>
      <p:sp>
        <p:nvSpPr>
          <p:cNvPr id="18" name="body:예외를 처리&#10;과업 완료율"/>
          <p:cNvSpPr txBox="1"/>
          <p:nvPr/>
        </p:nvSpPr>
        <p:spPr>
          <a:xfrm>
            <a:off x="6391656" y="3337560"/>
            <a:ext cx="2267712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예외를 처리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과업 완료율</a:t>
            </a:r>
          </a:p>
        </p:txBody>
      </p:sp>
      <p:sp>
        <p:nvSpPr>
          <p:cNvPr id="19" name="visual"/>
          <p:cNvSpPr/>
          <p:nvPr/>
        </p:nvSpPr>
        <p:spPr>
          <a:xfrm>
            <a:off x="8897112" y="2578608"/>
            <a:ext cx="146304" cy="18288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sual"/>
          <p:cNvSpPr/>
          <p:nvPr/>
        </p:nvSpPr>
        <p:spPr>
          <a:xfrm>
            <a:off x="9061704" y="2377440"/>
            <a:ext cx="2633472" cy="594360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dy:유지"/>
          <p:cNvSpPr txBox="1"/>
          <p:nvPr/>
        </p:nvSpPr>
        <p:spPr>
          <a:xfrm>
            <a:off x="9153144" y="2496312"/>
            <a:ext cx="245059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유지</a:t>
            </a:r>
          </a:p>
        </p:txBody>
      </p:sp>
      <p:sp>
        <p:nvSpPr>
          <p:cNvPr id="22" name="body:결과를 재사용&#10;재작업률"/>
          <p:cNvSpPr txBox="1"/>
          <p:nvPr/>
        </p:nvSpPr>
        <p:spPr>
          <a:xfrm>
            <a:off x="9244584" y="3337560"/>
            <a:ext cx="2267712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결과를 재사용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재작업률</a:t>
            </a:r>
          </a:p>
        </p:txBody>
      </p:sp>
      <p:sp>
        <p:nvSpPr>
          <p:cNvPr id="23" name="visual"/>
          <p:cNvSpPr/>
          <p:nvPr/>
        </p:nvSpPr>
        <p:spPr>
          <a:xfrm>
            <a:off x="502920" y="5166360"/>
            <a:ext cx="11183112" cy="566928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:아래에 화면 ID·수용조건·계측 이벤트를 연결"/>
          <p:cNvSpPr txBox="1"/>
          <p:nvPr/>
        </p:nvSpPr>
        <p:spPr>
          <a:xfrm>
            <a:off x="731520" y="5312664"/>
            <a:ext cx="1072591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아래에 화면 ID·수용조건·계측 이벤트를 연결합니다.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6 / 평가 대응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06 / 평가 대응</a:t>
            </a:r>
          </a:p>
        </p:txBody>
      </p:sp>
      <p:sp>
        <p:nvSpPr>
          <p:cNvPr id="3" name="title:모든 약속은 산출물과 검수 근거를 가집니다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모든 약속은 산출물과 검수 근거를 가집니다</a:t>
            </a:r>
          </a:p>
        </p:txBody>
      </p:sp>
      <p:sp>
        <p:nvSpPr>
          <p:cNvPr id="4" name="subtitle:조견표를 목차·화면·일정과 함께 갱신합니다.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조견표를 목차·화면·일정과 함께 갱신합니다.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D03:p10 / D25:p44-46</a:t>
            </a:r>
          </a:p>
        </p:txBody>
      </p:sp>
      <p:sp>
        <p:nvSpPr>
          <p:cNvPr id="7" name="footer:07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07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2029968"/>
            <a:ext cx="1901952" cy="621792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:요구 / 평가"/>
          <p:cNvSpPr txBox="1"/>
          <p:nvPr/>
        </p:nvSpPr>
        <p:spPr>
          <a:xfrm>
            <a:off x="630936" y="2194560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요구 / 평가</a:t>
            </a:r>
          </a:p>
        </p:txBody>
      </p:sp>
      <p:sp>
        <p:nvSpPr>
          <p:cNvPr id="10" name="visual"/>
          <p:cNvSpPr/>
          <p:nvPr/>
        </p:nvSpPr>
        <p:spPr>
          <a:xfrm>
            <a:off x="2404872" y="2029968"/>
            <a:ext cx="3264408" cy="621792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:대응 전략"/>
          <p:cNvSpPr txBox="1"/>
          <p:nvPr/>
        </p:nvSpPr>
        <p:spPr>
          <a:xfrm>
            <a:off x="2532888" y="2194560"/>
            <a:ext cx="300837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대응 전략</a:t>
            </a:r>
          </a:p>
        </p:txBody>
      </p:sp>
      <p:sp>
        <p:nvSpPr>
          <p:cNvPr id="12" name="visual"/>
          <p:cNvSpPr/>
          <p:nvPr/>
        </p:nvSpPr>
        <p:spPr>
          <a:xfrm>
            <a:off x="5669280" y="2029968"/>
            <a:ext cx="3163824" cy="621792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dy:제출 산출물"/>
          <p:cNvSpPr txBox="1"/>
          <p:nvPr/>
        </p:nvSpPr>
        <p:spPr>
          <a:xfrm>
            <a:off x="5797296" y="2194560"/>
            <a:ext cx="2907791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제출 산출물</a:t>
            </a:r>
          </a:p>
        </p:txBody>
      </p:sp>
      <p:sp>
        <p:nvSpPr>
          <p:cNvPr id="14" name="visual"/>
          <p:cNvSpPr/>
          <p:nvPr/>
        </p:nvSpPr>
        <p:spPr>
          <a:xfrm>
            <a:off x="8833104" y="2029968"/>
            <a:ext cx="2852928" cy="621792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:검수 근거"/>
          <p:cNvSpPr txBox="1"/>
          <p:nvPr/>
        </p:nvSpPr>
        <p:spPr>
          <a:xfrm>
            <a:off x="8961120" y="2194560"/>
            <a:ext cx="259689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검수 근거</a:t>
            </a:r>
          </a:p>
        </p:txBody>
      </p:sp>
      <p:sp>
        <p:nvSpPr>
          <p:cNvPr id="16" name="visual"/>
          <p:cNvSpPr/>
          <p:nvPr/>
        </p:nvSpPr>
        <p:spPr>
          <a:xfrm>
            <a:off x="502920" y="2761488"/>
            <a:ext cx="1901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:REQ-예시-01"/>
          <p:cNvSpPr txBox="1"/>
          <p:nvPr/>
        </p:nvSpPr>
        <p:spPr>
          <a:xfrm>
            <a:off x="630936" y="2962656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REQ-예시-01</a:t>
            </a:r>
          </a:p>
        </p:txBody>
      </p:sp>
      <p:sp>
        <p:nvSpPr>
          <p:cNvPr id="18" name="visual"/>
          <p:cNvSpPr/>
          <p:nvPr/>
        </p:nvSpPr>
        <p:spPr>
          <a:xfrm>
            <a:off x="2404872" y="2761488"/>
            <a:ext cx="32644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:입력 예외의 일관 처리"/>
          <p:cNvSpPr txBox="1"/>
          <p:nvPr/>
        </p:nvSpPr>
        <p:spPr>
          <a:xfrm>
            <a:off x="2532888" y="2962656"/>
            <a:ext cx="300837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입력 예외의 일관 처리</a:t>
            </a:r>
          </a:p>
        </p:txBody>
      </p:sp>
      <p:sp>
        <p:nvSpPr>
          <p:cNvPr id="20" name="visual"/>
          <p:cNvSpPr/>
          <p:nvPr/>
        </p:nvSpPr>
        <p:spPr>
          <a:xfrm>
            <a:off x="5669280" y="2761488"/>
            <a:ext cx="316382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dy:화면·규칙 정의"/>
          <p:cNvSpPr txBox="1"/>
          <p:nvPr/>
        </p:nvSpPr>
        <p:spPr>
          <a:xfrm>
            <a:off x="5797296" y="2962656"/>
            <a:ext cx="2907791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화면·규칙 정의</a:t>
            </a:r>
          </a:p>
        </p:txBody>
      </p:sp>
      <p:sp>
        <p:nvSpPr>
          <p:cNvPr id="22" name="visual"/>
          <p:cNvSpPr/>
          <p:nvPr/>
        </p:nvSpPr>
        <p:spPr>
          <a:xfrm>
            <a:off x="8833104" y="2761488"/>
            <a:ext cx="285292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:예외 시나리오"/>
          <p:cNvSpPr txBox="1"/>
          <p:nvPr/>
        </p:nvSpPr>
        <p:spPr>
          <a:xfrm>
            <a:off x="8961120" y="2962656"/>
            <a:ext cx="259689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예외 시나리오</a:t>
            </a:r>
          </a:p>
        </p:txBody>
      </p:sp>
      <p:sp>
        <p:nvSpPr>
          <p:cNvPr id="24" name="visual"/>
          <p:cNvSpPr/>
          <p:nvPr/>
        </p:nvSpPr>
        <p:spPr>
          <a:xfrm>
            <a:off x="502920" y="3621024"/>
            <a:ext cx="1901952" cy="768096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dy:REQ-예시-02"/>
          <p:cNvSpPr txBox="1"/>
          <p:nvPr/>
        </p:nvSpPr>
        <p:spPr>
          <a:xfrm>
            <a:off x="630936" y="3822191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REQ-예시-02</a:t>
            </a:r>
          </a:p>
        </p:txBody>
      </p:sp>
      <p:sp>
        <p:nvSpPr>
          <p:cNvPr id="26" name="visual"/>
          <p:cNvSpPr/>
          <p:nvPr/>
        </p:nvSpPr>
        <p:spPr>
          <a:xfrm>
            <a:off x="2404872" y="3621024"/>
            <a:ext cx="3264408" cy="768096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dy:기준과 변경 이력 연결"/>
          <p:cNvSpPr txBox="1"/>
          <p:nvPr/>
        </p:nvSpPr>
        <p:spPr>
          <a:xfrm>
            <a:off x="2532888" y="3822191"/>
            <a:ext cx="300837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기준과 변경 이력 연결</a:t>
            </a:r>
          </a:p>
        </p:txBody>
      </p:sp>
      <p:sp>
        <p:nvSpPr>
          <p:cNvPr id="28" name="visual"/>
          <p:cNvSpPr/>
          <p:nvPr/>
        </p:nvSpPr>
        <p:spPr>
          <a:xfrm>
            <a:off x="5669280" y="3621024"/>
            <a:ext cx="3163824" cy="768096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:데이터 매핑표"/>
          <p:cNvSpPr txBox="1"/>
          <p:nvPr/>
        </p:nvSpPr>
        <p:spPr>
          <a:xfrm>
            <a:off x="5797296" y="3822191"/>
            <a:ext cx="2907791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데이터 매핑표</a:t>
            </a:r>
          </a:p>
        </p:txBody>
      </p:sp>
      <p:sp>
        <p:nvSpPr>
          <p:cNvPr id="30" name="visual"/>
          <p:cNvSpPr/>
          <p:nvPr/>
        </p:nvSpPr>
        <p:spPr>
          <a:xfrm>
            <a:off x="8833104" y="3621024"/>
            <a:ext cx="2852928" cy="768096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dy:정합성 검증"/>
          <p:cNvSpPr txBox="1"/>
          <p:nvPr/>
        </p:nvSpPr>
        <p:spPr>
          <a:xfrm>
            <a:off x="8961120" y="3822191"/>
            <a:ext cx="259689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정합성 검증</a:t>
            </a:r>
          </a:p>
        </p:txBody>
      </p:sp>
      <p:sp>
        <p:nvSpPr>
          <p:cNvPr id="32" name="visual"/>
          <p:cNvSpPr/>
          <p:nvPr/>
        </p:nvSpPr>
        <p:spPr>
          <a:xfrm>
            <a:off x="502920" y="4480560"/>
            <a:ext cx="1901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:REQ-예시-03"/>
          <p:cNvSpPr txBox="1"/>
          <p:nvPr/>
        </p:nvSpPr>
        <p:spPr>
          <a:xfrm>
            <a:off x="630936" y="4681728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REQ-예시-03</a:t>
            </a:r>
          </a:p>
        </p:txBody>
      </p:sp>
      <p:sp>
        <p:nvSpPr>
          <p:cNvPr id="34" name="visual"/>
          <p:cNvSpPr/>
          <p:nvPr/>
        </p:nvSpPr>
        <p:spPr>
          <a:xfrm>
            <a:off x="2404872" y="4480560"/>
            <a:ext cx="326440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dy:단계별 운영 이관"/>
          <p:cNvSpPr txBox="1"/>
          <p:nvPr/>
        </p:nvSpPr>
        <p:spPr>
          <a:xfrm>
            <a:off x="2532888" y="4681728"/>
            <a:ext cx="300837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단계별 운영 이관</a:t>
            </a:r>
          </a:p>
        </p:txBody>
      </p:sp>
      <p:sp>
        <p:nvSpPr>
          <p:cNvPr id="36" name="visual"/>
          <p:cNvSpPr/>
          <p:nvPr/>
        </p:nvSpPr>
        <p:spPr>
          <a:xfrm>
            <a:off x="5669280" y="4480560"/>
            <a:ext cx="316382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dy:전환·교육 계획"/>
          <p:cNvSpPr txBox="1"/>
          <p:nvPr/>
        </p:nvSpPr>
        <p:spPr>
          <a:xfrm>
            <a:off x="5797296" y="4681728"/>
            <a:ext cx="2907791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전환·교육 계획</a:t>
            </a:r>
          </a:p>
        </p:txBody>
      </p:sp>
      <p:sp>
        <p:nvSpPr>
          <p:cNvPr id="38" name="visual"/>
          <p:cNvSpPr/>
          <p:nvPr/>
        </p:nvSpPr>
        <p:spPr>
          <a:xfrm>
            <a:off x="8833104" y="4480560"/>
            <a:ext cx="285292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dy:완료 체크리스트"/>
          <p:cNvSpPr txBox="1"/>
          <p:nvPr/>
        </p:nvSpPr>
        <p:spPr>
          <a:xfrm>
            <a:off x="8961120" y="4681728"/>
            <a:ext cx="259689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완료 체크리스트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7 / 구조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07 / 구조</a:t>
            </a:r>
          </a:p>
        </p:txBody>
      </p:sp>
      <p:sp>
        <p:nvSpPr>
          <p:cNvPr id="3" name="title:고객 채널과 업무 규칙, 데이터 책임을 분리합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고객 채널과 업무 규칙, 데이터 책임을 분리합니다</a:t>
            </a:r>
          </a:p>
        </p:txBody>
      </p:sp>
      <p:sp>
        <p:nvSpPr>
          <p:cNvPr id="4" name="subtitle:배포 구성도가 아니라 책임 경계를 보여 주는 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배포 구성도가 아니라 책임 경계를 보여 주는 개념도입니다.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D14:p7,31-36 / 합성 재구성</a:t>
            </a:r>
          </a:p>
        </p:txBody>
      </p:sp>
      <p:sp>
        <p:nvSpPr>
          <p:cNvPr id="7" name="footer:08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08</a:t>
            </a:r>
          </a:p>
        </p:txBody>
      </p:sp>
      <p:sp>
        <p:nvSpPr>
          <p:cNvPr id="8" name="body:채널"/>
          <p:cNvSpPr txBox="1"/>
          <p:nvPr/>
        </p:nvSpPr>
        <p:spPr>
          <a:xfrm>
            <a:off x="594360" y="2295144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채널</a:t>
            </a:r>
          </a:p>
        </p:txBody>
      </p:sp>
      <p:sp>
        <p:nvSpPr>
          <p:cNvPr id="9" name="visual"/>
          <p:cNvSpPr/>
          <p:nvPr/>
        </p:nvSpPr>
        <p:spPr>
          <a:xfrm>
            <a:off x="2103120" y="1975104"/>
            <a:ext cx="2907792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:고객 앱"/>
          <p:cNvSpPr txBox="1"/>
          <p:nvPr/>
        </p:nvSpPr>
        <p:spPr>
          <a:xfrm>
            <a:off x="2267712" y="2212848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고객 앱</a:t>
            </a:r>
          </a:p>
        </p:txBody>
      </p:sp>
      <p:sp>
        <p:nvSpPr>
          <p:cNvPr id="11" name="visual"/>
          <p:cNvSpPr/>
          <p:nvPr/>
        </p:nvSpPr>
        <p:spPr>
          <a:xfrm>
            <a:off x="5285231" y="1975104"/>
            <a:ext cx="2907792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:업무 포털"/>
          <p:cNvSpPr txBox="1"/>
          <p:nvPr/>
        </p:nvSpPr>
        <p:spPr>
          <a:xfrm>
            <a:off x="5449824" y="2212848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업무 포털</a:t>
            </a:r>
          </a:p>
        </p:txBody>
      </p:sp>
      <p:sp>
        <p:nvSpPr>
          <p:cNvPr id="13" name="visual"/>
          <p:cNvSpPr/>
          <p:nvPr/>
        </p:nvSpPr>
        <p:spPr>
          <a:xfrm>
            <a:off x="8467344" y="1975104"/>
            <a:ext cx="2907792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:관리 화면"/>
          <p:cNvSpPr txBox="1"/>
          <p:nvPr/>
        </p:nvSpPr>
        <p:spPr>
          <a:xfrm>
            <a:off x="8631936" y="2212848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관리 화면</a:t>
            </a:r>
          </a:p>
        </p:txBody>
      </p:sp>
      <p:sp>
        <p:nvSpPr>
          <p:cNvPr id="15" name="body:업무 서비스"/>
          <p:cNvSpPr txBox="1"/>
          <p:nvPr/>
        </p:nvSpPr>
        <p:spPr>
          <a:xfrm>
            <a:off x="594360" y="353872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업무 서비스</a:t>
            </a:r>
          </a:p>
        </p:txBody>
      </p:sp>
      <p:sp>
        <p:nvSpPr>
          <p:cNvPr id="16" name="visual"/>
          <p:cNvSpPr/>
          <p:nvPr/>
        </p:nvSpPr>
        <p:spPr>
          <a:xfrm>
            <a:off x="2103120" y="3218688"/>
            <a:ext cx="2907792" cy="850392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:정책·권한"/>
          <p:cNvSpPr txBox="1"/>
          <p:nvPr/>
        </p:nvSpPr>
        <p:spPr>
          <a:xfrm>
            <a:off x="2267712" y="3456432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정책·권한</a:t>
            </a:r>
          </a:p>
        </p:txBody>
      </p:sp>
      <p:sp>
        <p:nvSpPr>
          <p:cNvPr id="18" name="visual"/>
          <p:cNvSpPr/>
          <p:nvPr/>
        </p:nvSpPr>
        <p:spPr>
          <a:xfrm>
            <a:off x="5285231" y="3218688"/>
            <a:ext cx="2907792" cy="850392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:과업·승인"/>
          <p:cNvSpPr txBox="1"/>
          <p:nvPr/>
        </p:nvSpPr>
        <p:spPr>
          <a:xfrm>
            <a:off x="5449824" y="3456432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과업·승인</a:t>
            </a:r>
          </a:p>
        </p:txBody>
      </p:sp>
      <p:sp>
        <p:nvSpPr>
          <p:cNvPr id="20" name="visual"/>
          <p:cNvSpPr/>
          <p:nvPr/>
        </p:nvSpPr>
        <p:spPr>
          <a:xfrm>
            <a:off x="8467344" y="3218688"/>
            <a:ext cx="2907792" cy="850392"/>
          </a:xfrm>
          <a:prstGeom prst="rect">
            <a:avLst/>
          </a:prstGeom>
          <a:solidFill>
            <a:srgbClr val="F1ECFA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dy:알림·조회"/>
          <p:cNvSpPr txBox="1"/>
          <p:nvPr/>
        </p:nvSpPr>
        <p:spPr>
          <a:xfrm>
            <a:off x="8631936" y="3456432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알림·조회</a:t>
            </a:r>
          </a:p>
        </p:txBody>
      </p:sp>
      <p:sp>
        <p:nvSpPr>
          <p:cNvPr id="22" name="body:데이터 / 연계"/>
          <p:cNvSpPr txBox="1"/>
          <p:nvPr/>
        </p:nvSpPr>
        <p:spPr>
          <a:xfrm>
            <a:off x="594360" y="4782312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데이터 / 연계</a:t>
            </a:r>
          </a:p>
        </p:txBody>
      </p:sp>
      <p:sp>
        <p:nvSpPr>
          <p:cNvPr id="23" name="visual"/>
          <p:cNvSpPr/>
          <p:nvPr/>
        </p:nvSpPr>
        <p:spPr>
          <a:xfrm>
            <a:off x="2103120" y="4462272"/>
            <a:ext cx="2907792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:기준정보"/>
          <p:cNvSpPr txBox="1"/>
          <p:nvPr/>
        </p:nvSpPr>
        <p:spPr>
          <a:xfrm>
            <a:off x="2267712" y="4700016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기준정보</a:t>
            </a:r>
          </a:p>
        </p:txBody>
      </p:sp>
      <p:sp>
        <p:nvSpPr>
          <p:cNvPr id="25" name="visual"/>
          <p:cNvSpPr/>
          <p:nvPr/>
        </p:nvSpPr>
        <p:spPr>
          <a:xfrm>
            <a:off x="5285231" y="4462272"/>
            <a:ext cx="2907792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거래 이력"/>
          <p:cNvSpPr txBox="1"/>
          <p:nvPr/>
        </p:nvSpPr>
        <p:spPr>
          <a:xfrm>
            <a:off x="5449824" y="4700016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거래 이력</a:t>
            </a:r>
          </a:p>
        </p:txBody>
      </p:sp>
      <p:sp>
        <p:nvSpPr>
          <p:cNvPr id="27" name="visual"/>
          <p:cNvSpPr/>
          <p:nvPr/>
        </p:nvSpPr>
        <p:spPr>
          <a:xfrm>
            <a:off x="8467344" y="4462272"/>
            <a:ext cx="2907792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:외부 시스템"/>
          <p:cNvSpPr txBox="1"/>
          <p:nvPr/>
        </p:nvSpPr>
        <p:spPr>
          <a:xfrm>
            <a:off x="8631936" y="4700016"/>
            <a:ext cx="2578608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외부 시스템</a:t>
            </a:r>
          </a:p>
        </p:txBody>
      </p:sp>
      <p:sp>
        <p:nvSpPr>
          <p:cNvPr id="29" name="label:연계 방향·호출 주체·오류 책임은 상세 설계에"/>
          <p:cNvSpPr txBox="1"/>
          <p:nvPr/>
        </p:nvSpPr>
        <p:spPr>
          <a:xfrm>
            <a:off x="2194560" y="5815584"/>
            <a:ext cx="9235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연계 방향·호출 주체·오류 책임은 상세 설계에서 명시합니다.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8 / 실행 계획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08 / 실행 계획</a:t>
            </a:r>
          </a:p>
        </p:txBody>
      </p:sp>
      <p:sp>
        <p:nvSpPr>
          <p:cNvPr id="3" name="title:단계마다 승인할 산출물과 다음 진입 조건을 정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단계마다 승인할 산출물과 다음 진입 조건을 정합니다</a:t>
            </a:r>
          </a:p>
        </p:txBody>
      </p:sp>
      <p:sp>
        <p:nvSpPr>
          <p:cNvPr id="4" name="subtitle:기간은 합성 예시이며 실제 범위·인력·의존조건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기간은 합성 예시이며 실제 범위·인력·의존조건으로 다시 산정합니다.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D24:p13-14 / D29:단계별 추진</a:t>
            </a:r>
          </a:p>
        </p:txBody>
      </p:sp>
      <p:sp>
        <p:nvSpPr>
          <p:cNvPr id="7" name="footer:09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09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2286000"/>
            <a:ext cx="2624328" cy="603504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:정의"/>
          <p:cNvSpPr txBox="1"/>
          <p:nvPr/>
        </p:nvSpPr>
        <p:spPr>
          <a:xfrm>
            <a:off x="640080" y="2423160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정의</a:t>
            </a:r>
          </a:p>
        </p:txBody>
      </p:sp>
      <p:sp>
        <p:nvSpPr>
          <p:cNvPr id="10" name="body:요구·정책 합의"/>
          <p:cNvSpPr txBox="1"/>
          <p:nvPr/>
        </p:nvSpPr>
        <p:spPr>
          <a:xfrm>
            <a:off x="649224" y="3182112"/>
            <a:ext cx="23317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요구·정책 합의</a:t>
            </a:r>
          </a:p>
        </p:txBody>
      </p:sp>
      <p:sp>
        <p:nvSpPr>
          <p:cNvPr id="11" name="visual"/>
          <p:cNvSpPr/>
          <p:nvPr/>
        </p:nvSpPr>
        <p:spPr>
          <a:xfrm>
            <a:off x="502920" y="4315968"/>
            <a:ext cx="2624328" cy="822960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:기준 승인"/>
          <p:cNvSpPr txBox="1"/>
          <p:nvPr/>
        </p:nvSpPr>
        <p:spPr>
          <a:xfrm>
            <a:off x="658368" y="4517136"/>
            <a:ext cx="2313432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기준 승인</a:t>
            </a:r>
          </a:p>
        </p:txBody>
      </p:sp>
      <p:sp>
        <p:nvSpPr>
          <p:cNvPr id="13" name="visual"/>
          <p:cNvSpPr/>
          <p:nvPr/>
        </p:nvSpPr>
        <p:spPr>
          <a:xfrm>
            <a:off x="3172968" y="2505456"/>
            <a:ext cx="182880" cy="18288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"/>
          <p:cNvSpPr/>
          <p:nvPr/>
        </p:nvSpPr>
        <p:spPr>
          <a:xfrm>
            <a:off x="3355848" y="2286000"/>
            <a:ext cx="2624328" cy="603504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:설계"/>
          <p:cNvSpPr txBox="1"/>
          <p:nvPr/>
        </p:nvSpPr>
        <p:spPr>
          <a:xfrm>
            <a:off x="3493008" y="2423160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설계</a:t>
            </a:r>
          </a:p>
        </p:txBody>
      </p:sp>
      <p:sp>
        <p:nvSpPr>
          <p:cNvPr id="16" name="body:화면·데이터 계약"/>
          <p:cNvSpPr txBox="1"/>
          <p:nvPr/>
        </p:nvSpPr>
        <p:spPr>
          <a:xfrm>
            <a:off x="3502152" y="3182112"/>
            <a:ext cx="23317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화면·데이터 계약</a:t>
            </a:r>
          </a:p>
        </p:txBody>
      </p:sp>
      <p:sp>
        <p:nvSpPr>
          <p:cNvPr id="17" name="visual"/>
          <p:cNvSpPr/>
          <p:nvPr/>
        </p:nvSpPr>
        <p:spPr>
          <a:xfrm>
            <a:off x="3355848" y="4315968"/>
            <a:ext cx="2624328" cy="822960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시나리오 승인"/>
          <p:cNvSpPr txBox="1"/>
          <p:nvPr/>
        </p:nvSpPr>
        <p:spPr>
          <a:xfrm>
            <a:off x="3511296" y="4517136"/>
            <a:ext cx="2313432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시나리오 승인</a:t>
            </a:r>
          </a:p>
        </p:txBody>
      </p:sp>
      <p:sp>
        <p:nvSpPr>
          <p:cNvPr id="19" name="visual"/>
          <p:cNvSpPr/>
          <p:nvPr/>
        </p:nvSpPr>
        <p:spPr>
          <a:xfrm>
            <a:off x="6025896" y="2505456"/>
            <a:ext cx="182880" cy="18288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sual"/>
          <p:cNvSpPr/>
          <p:nvPr/>
        </p:nvSpPr>
        <p:spPr>
          <a:xfrm>
            <a:off x="6208776" y="2286000"/>
            <a:ext cx="2624328" cy="603504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dy:구축"/>
          <p:cNvSpPr txBox="1"/>
          <p:nvPr/>
        </p:nvSpPr>
        <p:spPr>
          <a:xfrm>
            <a:off x="6345936" y="2423160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구축</a:t>
            </a:r>
          </a:p>
        </p:txBody>
      </p:sp>
      <p:sp>
        <p:nvSpPr>
          <p:cNvPr id="22" name="body:기능·통합 시험"/>
          <p:cNvSpPr txBox="1"/>
          <p:nvPr/>
        </p:nvSpPr>
        <p:spPr>
          <a:xfrm>
            <a:off x="6355080" y="3182112"/>
            <a:ext cx="23317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기능·통합 시험</a:t>
            </a:r>
          </a:p>
        </p:txBody>
      </p:sp>
      <p:sp>
        <p:nvSpPr>
          <p:cNvPr id="23" name="visual"/>
          <p:cNvSpPr/>
          <p:nvPr/>
        </p:nvSpPr>
        <p:spPr>
          <a:xfrm>
            <a:off x="6208776" y="4315968"/>
            <a:ext cx="2624328" cy="822960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:수용 기준 통과"/>
          <p:cNvSpPr txBox="1"/>
          <p:nvPr/>
        </p:nvSpPr>
        <p:spPr>
          <a:xfrm>
            <a:off x="6364224" y="4517136"/>
            <a:ext cx="2313432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수용 기준 통과</a:t>
            </a:r>
          </a:p>
        </p:txBody>
      </p:sp>
      <p:sp>
        <p:nvSpPr>
          <p:cNvPr id="25" name="visual"/>
          <p:cNvSpPr/>
          <p:nvPr/>
        </p:nvSpPr>
        <p:spPr>
          <a:xfrm>
            <a:off x="8878824" y="2505456"/>
            <a:ext cx="182880" cy="182880"/>
          </a:xfrm>
          <a:prstGeom prst="rightArrow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sual"/>
          <p:cNvSpPr/>
          <p:nvPr/>
        </p:nvSpPr>
        <p:spPr>
          <a:xfrm>
            <a:off x="9061704" y="2286000"/>
            <a:ext cx="2624328" cy="603504"/>
          </a:xfrm>
          <a:prstGeom prst="rect">
            <a:avLst/>
          </a:prstGeom>
          <a:solidFill>
            <a:srgbClr val="6A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dy:전환"/>
          <p:cNvSpPr txBox="1"/>
          <p:nvPr/>
        </p:nvSpPr>
        <p:spPr>
          <a:xfrm>
            <a:off x="9198864" y="2423160"/>
            <a:ext cx="2350008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전환</a:t>
            </a:r>
          </a:p>
        </p:txBody>
      </p:sp>
      <p:sp>
        <p:nvSpPr>
          <p:cNvPr id="28" name="body:교육·운영 이관"/>
          <p:cNvSpPr txBox="1"/>
          <p:nvPr/>
        </p:nvSpPr>
        <p:spPr>
          <a:xfrm>
            <a:off x="9208008" y="3182112"/>
            <a:ext cx="23317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교육·운영 이관</a:t>
            </a:r>
          </a:p>
        </p:txBody>
      </p:sp>
      <p:sp>
        <p:nvSpPr>
          <p:cNvPr id="29" name="visual"/>
          <p:cNvSpPr/>
          <p:nvPr/>
        </p:nvSpPr>
        <p:spPr>
          <a:xfrm>
            <a:off x="9061704" y="4315968"/>
            <a:ext cx="2624328" cy="822960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:운영 준비 확인"/>
          <p:cNvSpPr txBox="1"/>
          <p:nvPr/>
        </p:nvSpPr>
        <p:spPr>
          <a:xfrm>
            <a:off x="9217152" y="4517136"/>
            <a:ext cx="2313432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운영 준비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09 / UX 증명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09 / UX 증명</a:t>
            </a:r>
          </a:p>
        </p:txBody>
      </p:sp>
      <p:sp>
        <p:nvSpPr>
          <p:cNvPr id="3" name="title:핵심 화면 한 장으로 전략이 작동하는 방식을 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핵심 화면 한 장으로 전략이 작동하는 방식을 보여줍니다</a:t>
            </a:r>
          </a:p>
        </p:txBody>
      </p:sp>
      <p:sp>
        <p:nvSpPr>
          <p:cNvPr id="4" name="subtitle:시안은 구현·테스트 완료와 구분하고 검증할 과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시안은 구현·테스트 완료와 구분하고 검증할 과업을 붙입니다.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D11:이미지형 UI 사례 / D26:핵심 UX</a:t>
            </a:r>
          </a:p>
        </p:txBody>
      </p:sp>
      <p:sp>
        <p:nvSpPr>
          <p:cNvPr id="7" name="footer:10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10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1975104"/>
            <a:ext cx="6839712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"/>
          <p:cNvSpPr/>
          <p:nvPr/>
        </p:nvSpPr>
        <p:spPr>
          <a:xfrm>
            <a:off x="502920" y="1975104"/>
            <a:ext cx="6839712" cy="521207"/>
          </a:xfrm>
          <a:prstGeom prst="rect">
            <a:avLst/>
          </a:prstGeom>
          <a:solidFill>
            <a:srgbClr val="4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:합성 업무 화면  ·  목업"/>
          <p:cNvSpPr txBox="1"/>
          <p:nvPr/>
        </p:nvSpPr>
        <p:spPr>
          <a:xfrm>
            <a:off x="694944" y="2084831"/>
            <a:ext cx="645566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업무 화면  ·  목업</a:t>
            </a:r>
          </a:p>
        </p:txBody>
      </p:sp>
      <p:sp>
        <p:nvSpPr>
          <p:cNvPr id="11" name="visual"/>
          <p:cNvSpPr/>
          <p:nvPr/>
        </p:nvSpPr>
        <p:spPr>
          <a:xfrm>
            <a:off x="731520" y="2761488"/>
            <a:ext cx="6382512" cy="640080"/>
          </a:xfrm>
          <a:prstGeom prst="rect">
            <a:avLst/>
          </a:prstGeom>
          <a:solidFill>
            <a:srgbClr val="F4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:조건을 입력하면 기준과 결과를 함께 확인"/>
          <p:cNvSpPr txBox="1"/>
          <p:nvPr/>
        </p:nvSpPr>
        <p:spPr>
          <a:xfrm>
            <a:off x="914400" y="2916936"/>
            <a:ext cx="601675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조건을 입력하면 기준과 결과를 함께 확인</a:t>
            </a:r>
          </a:p>
        </p:txBody>
      </p:sp>
      <p:sp>
        <p:nvSpPr>
          <p:cNvPr id="13" name="visual"/>
          <p:cNvSpPr/>
          <p:nvPr/>
        </p:nvSpPr>
        <p:spPr>
          <a:xfrm>
            <a:off x="731520" y="3657600"/>
            <a:ext cx="6382512" cy="429768"/>
          </a:xfrm>
          <a:prstGeom prst="rect">
            <a:avLst/>
          </a:prstGeom>
          <a:solidFill>
            <a:srgbClr val="F1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"/>
          <p:cNvSpPr/>
          <p:nvPr/>
        </p:nvSpPr>
        <p:spPr>
          <a:xfrm>
            <a:off x="731520" y="4224528"/>
            <a:ext cx="6382512" cy="429768"/>
          </a:xfrm>
          <a:prstGeom prst="rect">
            <a:avLst/>
          </a:prstGeom>
          <a:solidFill>
            <a:srgbClr val="F4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ual"/>
          <p:cNvSpPr/>
          <p:nvPr/>
        </p:nvSpPr>
        <p:spPr>
          <a:xfrm>
            <a:off x="731520" y="4791456"/>
            <a:ext cx="6382512" cy="429768"/>
          </a:xfrm>
          <a:prstGeom prst="rect">
            <a:avLst/>
          </a:prstGeom>
          <a:solidFill>
            <a:srgbClr val="F4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:설계 의도"/>
          <p:cNvSpPr txBox="1"/>
          <p:nvPr/>
        </p:nvSpPr>
        <p:spPr>
          <a:xfrm>
            <a:off x="7708392" y="2148840"/>
            <a:ext cx="3703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설계 의도</a:t>
            </a:r>
          </a:p>
        </p:txBody>
      </p:sp>
      <p:sp>
        <p:nvSpPr>
          <p:cNvPr id="17" name="body:① 반복 확인을 줄이는 정보&#10;② 현재 상태와 "/>
          <p:cNvSpPr txBox="1"/>
          <p:nvPr/>
        </p:nvSpPr>
        <p:spPr>
          <a:xfrm>
            <a:off x="7708392" y="3017520"/>
            <a:ext cx="370332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① 반복 확인을 줄이는 정보</a:t>
            </a:r>
          </a:p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② 현재 상태와 다음 행동</a:t>
            </a:r>
          </a:p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③ 예외 처리와 변경 이력</a:t>
            </a:r>
          </a:p>
        </p:txBody>
      </p:sp>
      <p:sp>
        <p:nvSpPr>
          <p:cNvPr id="18" name="body:검증: 담당자가 과업을 완료하는가"/>
          <p:cNvSpPr txBox="1"/>
          <p:nvPr/>
        </p:nvSpPr>
        <p:spPr>
          <a:xfrm>
            <a:off x="7708392" y="5239512"/>
            <a:ext cx="37033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검증: 담당자가 과업을 완료하는가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10 / 왜 와일리인가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10 / 왜 와일리인가</a:t>
            </a:r>
          </a:p>
        </p:txBody>
      </p:sp>
      <p:sp>
        <p:nvSpPr>
          <p:cNvPr id="3" name="title:과거 경험을 이번 과제에서 맡을 책임으로 바꿉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과거 경험을 이번 과제에서 맡을 책임으로 바꿉니다</a:t>
            </a:r>
          </a:p>
        </p:txBody>
      </p:sp>
      <p:sp>
        <p:nvSpPr>
          <p:cNvPr id="4" name="subtitle:로고 나열 대신 유사 조건·기여 범위·전이 방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로고 나열 대신 유사 조건·기여 범위·전이 방법·근거를 제시합니다.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D02:레퍼런스 / D24:p17 / D03:p9</a:t>
            </a:r>
          </a:p>
        </p:txBody>
      </p:sp>
      <p:sp>
        <p:nvSpPr>
          <p:cNvPr id="7" name="footer:11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11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el:01"/>
          <p:cNvSpPr txBox="1"/>
          <p:nvPr/>
        </p:nvSpPr>
        <p:spPr>
          <a:xfrm>
            <a:off x="70408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01</a:t>
            </a:r>
          </a:p>
        </p:txBody>
      </p:sp>
      <p:sp>
        <p:nvSpPr>
          <p:cNvPr id="10" name="body:유사한 상황"/>
          <p:cNvSpPr txBox="1"/>
          <p:nvPr/>
        </p:nvSpPr>
        <p:spPr>
          <a:xfrm>
            <a:off x="70408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유사한 상황</a:t>
            </a:r>
          </a:p>
        </p:txBody>
      </p:sp>
      <p:sp>
        <p:nvSpPr>
          <p:cNvPr id="11" name="body:여러 역할이 함께 처리하는&#10;복잡한 업무 경험"/>
          <p:cNvSpPr txBox="1"/>
          <p:nvPr/>
        </p:nvSpPr>
        <p:spPr>
          <a:xfrm>
            <a:off x="70408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여러 역할이 함께 처리하는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복잡한 업무 경험</a:t>
            </a:r>
          </a:p>
        </p:txBody>
      </p:sp>
      <p:sp>
        <p:nvSpPr>
          <p:cNvPr id="12" name="visual"/>
          <p:cNvSpPr/>
          <p:nvPr/>
        </p:nvSpPr>
        <p:spPr>
          <a:xfrm>
            <a:off x="429768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:02"/>
          <p:cNvSpPr txBox="1"/>
          <p:nvPr/>
        </p:nvSpPr>
        <p:spPr>
          <a:xfrm>
            <a:off x="449884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02</a:t>
            </a:r>
          </a:p>
        </p:txBody>
      </p:sp>
      <p:sp>
        <p:nvSpPr>
          <p:cNvPr id="14" name="body:우리의 기여"/>
          <p:cNvSpPr txBox="1"/>
          <p:nvPr/>
        </p:nvSpPr>
        <p:spPr>
          <a:xfrm>
            <a:off x="449884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우리의 기여</a:t>
            </a:r>
          </a:p>
        </p:txBody>
      </p:sp>
      <p:sp>
        <p:nvSpPr>
          <p:cNvPr id="15" name="body:고객 여정과 업무 규칙을&#10;화면·검수로 연결"/>
          <p:cNvSpPr txBox="1"/>
          <p:nvPr/>
        </p:nvSpPr>
        <p:spPr>
          <a:xfrm>
            <a:off x="449884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고객 여정과 업무 규칙을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화면·검수로 연결</a:t>
            </a:r>
          </a:p>
        </p:txBody>
      </p:sp>
      <p:sp>
        <p:nvSpPr>
          <p:cNvPr id="16" name="visual"/>
          <p:cNvSpPr/>
          <p:nvPr/>
        </p:nvSpPr>
        <p:spPr>
          <a:xfrm>
            <a:off x="809244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el:03"/>
          <p:cNvSpPr txBox="1"/>
          <p:nvPr/>
        </p:nvSpPr>
        <p:spPr>
          <a:xfrm>
            <a:off x="829360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03</a:t>
            </a:r>
          </a:p>
        </p:txBody>
      </p:sp>
      <p:sp>
        <p:nvSpPr>
          <p:cNvPr id="18" name="body:이번의 적용"/>
          <p:cNvSpPr txBox="1"/>
          <p:nvPr/>
        </p:nvSpPr>
        <p:spPr>
          <a:xfrm>
            <a:off x="829360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이번의 적용</a:t>
            </a:r>
          </a:p>
        </p:txBody>
      </p:sp>
      <p:sp>
        <p:nvSpPr>
          <p:cNvPr id="19" name="body:대표 과업을 먼저 검증하고&#10;전환·운영까지 인계"/>
          <p:cNvSpPr txBox="1"/>
          <p:nvPr/>
        </p:nvSpPr>
        <p:spPr>
          <a:xfrm>
            <a:off x="829360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대표 과업을 먼저 검증하고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전환·운영까지 인계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:11 / 의사결정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11 / 의사결정</a:t>
            </a:r>
          </a:p>
        </p:txBody>
      </p:sp>
      <p:sp>
        <p:nvSpPr>
          <p:cNvPr id="3" name="title:착수 전에 세 가지 기준을 함께 확정합니다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착수 전에 세 가지 기준을 함께 확정합니다</a:t>
            </a:r>
          </a:p>
        </p:txBody>
      </p:sp>
      <p:sp>
        <p:nvSpPr>
          <p:cNvPr id="4" name="subtitle:좋은 제안은 마지막에 다음 행동을 명확히 남깁"/>
          <p:cNvSpPr txBox="1"/>
          <p:nvPr/>
        </p:nvSpPr>
        <p:spPr>
          <a:xfrm>
            <a:off x="502920" y="1307592"/>
            <a:ext cx="11064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좋은 제안은 마지막에 다음 행동을 명확히 남깁니다.</a:t>
            </a:r>
          </a:p>
        </p:txBody>
      </p:sp>
      <p:sp>
        <p:nvSpPr>
          <p:cNvPr id="5" name="visual"/>
          <p:cNvSpPr/>
          <p:nvPr/>
        </p:nvSpPr>
        <p:spPr>
          <a:xfrm>
            <a:off x="502920" y="6327648"/>
            <a:ext cx="11183112" cy="12801"/>
          </a:xfrm>
          <a:prstGeom prst="rect">
            <a:avLst/>
          </a:prstGeom>
          <a:solidFill>
            <a:srgbClr val="D8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:합성 제작 예시 · 실제 고객 성과 아님 · "/>
          <p:cNvSpPr txBox="1"/>
          <p:nvPr/>
        </p:nvSpPr>
        <p:spPr>
          <a:xfrm>
            <a:off x="502920" y="6437376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r>
              <a:t>합성 제작 예시 · 실제 고객 성과 아님 · D24:p48-50 / 합성 재구성</a:t>
            </a:r>
          </a:p>
        </p:txBody>
      </p:sp>
      <p:sp>
        <p:nvSpPr>
          <p:cNvPr id="7" name="footer:12"/>
          <p:cNvSpPr txBox="1"/>
          <p:nvPr/>
        </p:nvSpPr>
        <p:spPr>
          <a:xfrm>
            <a:off x="11064240" y="641908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12</a:t>
            </a:r>
          </a:p>
        </p:txBody>
      </p:sp>
      <p:sp>
        <p:nvSpPr>
          <p:cNvPr id="8" name="visual"/>
          <p:cNvSpPr/>
          <p:nvPr/>
        </p:nvSpPr>
        <p:spPr>
          <a:xfrm>
            <a:off x="50292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el:01"/>
          <p:cNvSpPr txBox="1"/>
          <p:nvPr/>
        </p:nvSpPr>
        <p:spPr>
          <a:xfrm>
            <a:off x="70408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01</a:t>
            </a:r>
          </a:p>
        </p:txBody>
      </p:sp>
      <p:sp>
        <p:nvSpPr>
          <p:cNvPr id="10" name="body:범위"/>
          <p:cNvSpPr txBox="1"/>
          <p:nvPr/>
        </p:nvSpPr>
        <p:spPr>
          <a:xfrm>
            <a:off x="70408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범위</a:t>
            </a:r>
          </a:p>
        </p:txBody>
      </p:sp>
      <p:sp>
        <p:nvSpPr>
          <p:cNvPr id="11" name="body:이번 단계의 필수 과업과&#10;후속 과제를 나눕니다"/>
          <p:cNvSpPr txBox="1"/>
          <p:nvPr/>
        </p:nvSpPr>
        <p:spPr>
          <a:xfrm>
            <a:off x="70408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이번 단계의 필수 과업과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후속 과제를 나눕니다.</a:t>
            </a:r>
          </a:p>
        </p:txBody>
      </p:sp>
      <p:sp>
        <p:nvSpPr>
          <p:cNvPr id="12" name="visual"/>
          <p:cNvSpPr/>
          <p:nvPr/>
        </p:nvSpPr>
        <p:spPr>
          <a:xfrm>
            <a:off x="429768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:02"/>
          <p:cNvSpPr txBox="1"/>
          <p:nvPr/>
        </p:nvSpPr>
        <p:spPr>
          <a:xfrm>
            <a:off x="449884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02</a:t>
            </a:r>
          </a:p>
        </p:txBody>
      </p:sp>
      <p:sp>
        <p:nvSpPr>
          <p:cNvPr id="14" name="body:기준"/>
          <p:cNvSpPr txBox="1"/>
          <p:nvPr/>
        </p:nvSpPr>
        <p:spPr>
          <a:xfrm>
            <a:off x="449884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기준</a:t>
            </a:r>
          </a:p>
        </p:txBody>
      </p:sp>
      <p:sp>
        <p:nvSpPr>
          <p:cNvPr id="15" name="body:정책·데이터·검수의&#10;정본과 책임자를 정합니다."/>
          <p:cNvSpPr txBox="1"/>
          <p:nvPr/>
        </p:nvSpPr>
        <p:spPr>
          <a:xfrm>
            <a:off x="449884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정책·데이터·검수의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정본과 책임자를 정합니다.</a:t>
            </a:r>
          </a:p>
        </p:txBody>
      </p:sp>
      <p:sp>
        <p:nvSpPr>
          <p:cNvPr id="16" name="visual"/>
          <p:cNvSpPr/>
          <p:nvPr/>
        </p:nvSpPr>
        <p:spPr>
          <a:xfrm>
            <a:off x="8092440" y="1993392"/>
            <a:ext cx="359359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el:03"/>
          <p:cNvSpPr txBox="1"/>
          <p:nvPr/>
        </p:nvSpPr>
        <p:spPr>
          <a:xfrm>
            <a:off x="8293608" y="2176272"/>
            <a:ext cx="319125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A4C9C"/>
                </a:solidFill>
                <a:latin typeface="Noto Sans CJK KR"/>
                <a:ea typeface="Noto Sans CJK KR"/>
                <a:cs typeface="Noto Sans CJK KR"/>
              </a:defRPr>
            </a:pPr>
            <a:r>
              <a:t>03</a:t>
            </a:r>
          </a:p>
        </p:txBody>
      </p:sp>
      <p:sp>
        <p:nvSpPr>
          <p:cNvPr id="18" name="body:일정"/>
          <p:cNvSpPr txBox="1"/>
          <p:nvPr/>
        </p:nvSpPr>
        <p:spPr>
          <a:xfrm>
            <a:off x="8293608" y="2724912"/>
            <a:ext cx="3191256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3306B"/>
                </a:solidFill>
                <a:latin typeface="Noto Sans CJK KR"/>
                <a:ea typeface="Noto Sans CJK KR"/>
                <a:cs typeface="Noto Sans CJK KR"/>
              </a:defRPr>
            </a:pPr>
            <a:r>
              <a:t>일정</a:t>
            </a:r>
          </a:p>
        </p:txBody>
      </p:sp>
      <p:sp>
        <p:nvSpPr>
          <p:cNvPr id="19" name="body:검토·승인·전환의&#10;의존조건을 확인합니다."/>
          <p:cNvSpPr txBox="1"/>
          <p:nvPr/>
        </p:nvSpPr>
        <p:spPr>
          <a:xfrm>
            <a:off x="8293608" y="3474720"/>
            <a:ext cx="3191256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검토·승인·전환의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t>의존조건을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